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EE8DDE-C588-4C1C-ABD0-01D4E8BDA2F2}" v="13" dt="2026-09-26T09:14:59.225"/>
    <p1510:client id="{EBEE86B9-AE8C-416A-894F-333E39CF9541}" v="236" dt="2026-09-25T15:29:14.760"/>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6654" y="3697183"/>
            <a:ext cx="6149467" cy="871795"/>
          </a:xfrm>
        </p:spPr>
        <p:txBody>
          <a:bodyPr vert="horz" lIns="91440" tIns="45720" rIns="91440" bIns="45720" rtlCol="0" anchor="t">
            <a:normAutofit/>
          </a:bodyPr>
          <a:lstStyle/>
          <a:p>
            <a:r>
              <a:rPr lang="en-US" b="0" dirty="0">
                <a:solidFill>
                  <a:schemeClr val="tx1"/>
                </a:solidFill>
              </a:rPr>
              <a:t>[Student Name- Jatin </a:t>
            </a:r>
            <a:r>
              <a:rPr lang="en-US" b="0" dirty="0" err="1">
                <a:solidFill>
                  <a:schemeClr val="tx1"/>
                </a:solidFill>
              </a:rPr>
              <a:t>Tanwani</a:t>
            </a:r>
          </a:p>
          <a:p>
            <a:r>
              <a:rPr lang="en-US" b="0" dirty="0">
                <a:solidFill>
                  <a:schemeClr val="tx1"/>
                </a:solidFill>
              </a:rPr>
              <a:t>College Name- Arya College of Engineering]</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2013" y="2576456"/>
            <a:ext cx="10397888" cy="847690"/>
          </a:xfrm>
        </p:spPr>
        <p:txBody>
          <a:bodyPr>
            <a:normAutofit fontScale="90000"/>
          </a:bodyPr>
          <a:lstStyle/>
          <a:p>
            <a:r>
              <a:rPr lang="en-GB" sz="3200" dirty="0"/>
              <a:t>Project Title -</a:t>
            </a:r>
            <a:r>
              <a:rPr lang="en-GB" sz="3200" dirty="0">
                <a:ea typeface="+mn-lt"/>
                <a:cs typeface="+mn-lt"/>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23326" y="4885387"/>
            <a:ext cx="5513847" cy="369332"/>
          </a:xfrm>
          <a:prstGeom prst="rect">
            <a:avLst/>
          </a:prstGeom>
          <a:noFill/>
        </p:spPr>
        <p:txBody>
          <a:bodyPr wrap="square" lIns="91440" tIns="45720" rIns="91440" bIns="45720" rtlCol="0" anchor="t">
            <a:spAutoFit/>
          </a:bodyPr>
          <a:lstStyle/>
          <a:p>
            <a:r>
              <a:rPr lang="en-US" b="1" dirty="0"/>
              <a:t>AICTE STU ID : </a:t>
            </a:r>
            <a:r>
              <a:rPr lang="en-US" b="1" dirty="0">
                <a:solidFill>
                  <a:srgbClr val="020617"/>
                </a:solidFill>
                <a:highlight>
                  <a:srgbClr val="FFFFFF"/>
                </a:highlight>
                <a:ea typeface="+mn-lt"/>
                <a:cs typeface="+mn-lt"/>
              </a:rPr>
              <a:t>STU678131e858a651736520168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544550" cy="4297905"/>
          </a:xfrm>
        </p:spPr>
        <p:txBody>
          <a:bodyPr vert="horz" lIns="91440" tIns="45720" rIns="91440" bIns="45720" rtlCol="0" anchor="t">
            <a:normAutofit fontScale="77500" lnSpcReduction="20000"/>
          </a:bodyPr>
          <a:lstStyle/>
          <a:p>
            <a:r>
              <a:rPr lang="en-IN" sz="2800" dirty="0"/>
              <a:t>(</a:t>
            </a:r>
            <a:r>
              <a:rPr lang="en-IN" sz="2800" b="1" dirty="0">
                <a:ea typeface="+mn-lt"/>
                <a:cs typeface="+mn-lt"/>
              </a:rPr>
              <a:t>Agricultural activities are influenced by seasonal variations in environmental conditions, farming practices, resource availability and market conditions. As a result, agricultural performance may differ from one season to another.</a:t>
            </a:r>
            <a:endParaRPr lang="en-US" sz="2800" dirty="0"/>
          </a:p>
          <a:p>
            <a:r>
              <a:rPr lang="en-IN" sz="2800" b="1" dirty="0">
                <a:ea typeface="+mn-lt"/>
                <a:cs typeface="+mn-lt"/>
              </a:rPr>
              <a:t>However, raw agricultural data does not clearly explain how agricultural performance changes across seasons or what patterns can be observed in different seasonal conditions.</a:t>
            </a:r>
            <a:endParaRPr lang="en-IN" dirty="0"/>
          </a:p>
          <a:p>
            <a:r>
              <a:rPr lang="en-IN" sz="2800" b="1" dirty="0">
                <a:ea typeface="+mn-lt"/>
                <a:cs typeface="+mn-lt"/>
              </a:rPr>
              <a:t>The project aims to </a:t>
            </a:r>
            <a:r>
              <a:rPr lang="en-IN" sz="2800" b="1" dirty="0" err="1">
                <a:ea typeface="+mn-lt"/>
                <a:cs typeface="+mn-lt"/>
              </a:rPr>
              <a:t>analyze</a:t>
            </a:r>
            <a:r>
              <a:rPr lang="en-IN" sz="2800" b="1" dirty="0">
                <a:ea typeface="+mn-lt"/>
                <a:cs typeface="+mn-lt"/>
              </a:rPr>
              <a:t> the agricultural dataset and identify meaningful seasonal patterns, trends, relationships and variations in agricultural performance.</a:t>
            </a:r>
            <a:endParaRPr lang="en-IN" dirty="0"/>
          </a:p>
          <a:p>
            <a:pPr>
              <a:lnSpc>
                <a:spcPct val="10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67724" y="764024"/>
            <a:ext cx="6368784" cy="944266"/>
          </a:xfrm>
        </p:spPr>
        <p:txBody>
          <a:bodyPr>
            <a:normAutofit fontScale="90000"/>
          </a:bodyPr>
          <a:lstStyle/>
          <a:p>
            <a:r>
              <a:rPr lang="en-GB" dirty="0"/>
              <a:t>Project Description</a:t>
            </a:r>
            <a:br>
              <a:rPr lang="en-GB" dirty="0"/>
            </a:br>
            <a:r>
              <a:rPr lang="en-GB" sz="2000" dirty="0"/>
              <a:t>[ </a:t>
            </a:r>
            <a:r>
              <a:rPr lang="en-GB" sz="2000" dirty="0">
                <a:ea typeface="+mj-lt"/>
                <a:cs typeface="+mj-lt"/>
              </a:rPr>
              <a:t>Seasonal Agriculture Performance Analysis is a data analytics project that </a:t>
            </a:r>
            <a:r>
              <a:rPr lang="en-GB" sz="2000" dirty="0" err="1">
                <a:ea typeface="+mj-lt"/>
                <a:cs typeface="+mj-lt"/>
              </a:rPr>
              <a:t>analyzes</a:t>
            </a:r>
            <a:r>
              <a:rPr lang="en-GB" sz="2000" dirty="0">
                <a:ea typeface="+mj-lt"/>
                <a:cs typeface="+mj-lt"/>
              </a:rPr>
              <a:t> agricultural activities across different seasons, geographical areas and farming conditions.</a:t>
            </a:r>
            <a:endParaRPr lang="en-IN" sz="2000"/>
          </a:p>
          <a:p>
            <a:r>
              <a:rPr lang="en-GB" sz="2000" dirty="0">
                <a:ea typeface="+mj-lt"/>
                <a:cs typeface="+mj-lt"/>
              </a:rPr>
              <a:t>The project uses agricultural data related to farming practices, environmental conditions, resource usage, crop production and economic performance.</a:t>
            </a:r>
            <a:endParaRPr lang="en-GB" sz="2000" dirty="0"/>
          </a:p>
          <a:p>
            <a:r>
              <a:rPr lang="en-GB" sz="2000" dirty="0">
                <a:ea typeface="+mj-lt"/>
                <a:cs typeface="+mj-lt"/>
              </a:rPr>
              <a:t>The data is cleaned and prepared using Python and Pandas, followed by exploratory analysis and visualization to identify seasonal patterns, trends, relationships and differences in agricultural performance.</a:t>
            </a:r>
            <a:endParaRPr lang="en-GB" sz="2000" dirty="0"/>
          </a:p>
          <a:p>
            <a:r>
              <a:rPr lang="en-GB" sz="2000" dirty="0">
                <a:ea typeface="+mj-lt"/>
                <a:cs typeface="+mj-lt"/>
              </a:rPr>
              <a:t>The analysis helps understand how factors such as environmental conditions, resource usage, crop production and economic outcomes vary across seasons.]</a:t>
            </a:r>
            <a:br>
              <a:rPr lang="en-GB" dirty="0"/>
            </a:br>
            <a:endParaRPr lang="en-IN"/>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35524"/>
            <a:ext cx="7626454" cy="3670805"/>
          </a:xfrm>
        </p:spPr>
        <p:txBody>
          <a:bodyPr vert="horz" lIns="91440" tIns="45720" rIns="91440" bIns="45720" rtlCol="0" anchor="t">
            <a:normAutofit/>
          </a:bodyPr>
          <a:lstStyle/>
          <a:p>
            <a:r>
              <a:rPr lang="en-IN" dirty="0">
                <a:ea typeface="+mn-lt"/>
                <a:cs typeface="+mn-lt"/>
              </a:rPr>
              <a:t>Farmers and Agricultural </a:t>
            </a:r>
            <a:r>
              <a:rPr lang="en-IN" dirty="0" err="1">
                <a:ea typeface="+mn-lt"/>
                <a:cs typeface="+mn-lt"/>
              </a:rPr>
              <a:t>StakeholdersTo</a:t>
            </a:r>
            <a:r>
              <a:rPr lang="en-IN" dirty="0">
                <a:ea typeface="+mn-lt"/>
                <a:cs typeface="+mn-lt"/>
              </a:rPr>
              <a:t> understand seasonal agricultural performance and resource usage. </a:t>
            </a:r>
            <a:endParaRPr lang="en-IN"/>
          </a:p>
          <a:p>
            <a:r>
              <a:rPr lang="en-IN" dirty="0">
                <a:ea typeface="+mn-lt"/>
                <a:cs typeface="+mn-lt"/>
              </a:rPr>
              <a:t>Agricultural </a:t>
            </a:r>
            <a:r>
              <a:rPr lang="en-IN" dirty="0" err="1">
                <a:ea typeface="+mn-lt"/>
                <a:cs typeface="+mn-lt"/>
              </a:rPr>
              <a:t>PlannersTo</a:t>
            </a:r>
            <a:r>
              <a:rPr lang="en-IN" dirty="0">
                <a:ea typeface="+mn-lt"/>
                <a:cs typeface="+mn-lt"/>
              </a:rPr>
              <a:t> support evidence-based seasonal agricultural planning. </a:t>
            </a:r>
            <a:endParaRPr lang="en-IN" dirty="0"/>
          </a:p>
          <a:p>
            <a:r>
              <a:rPr lang="en-IN" dirty="0">
                <a:ea typeface="+mn-lt"/>
                <a:cs typeface="+mn-lt"/>
              </a:rPr>
              <a:t>Agricultural </a:t>
            </a:r>
            <a:r>
              <a:rPr lang="en-IN" dirty="0" err="1">
                <a:ea typeface="+mn-lt"/>
                <a:cs typeface="+mn-lt"/>
              </a:rPr>
              <a:t>ResearchersTo</a:t>
            </a:r>
            <a:r>
              <a:rPr lang="en-IN" dirty="0">
                <a:ea typeface="+mn-lt"/>
                <a:cs typeface="+mn-lt"/>
              </a:rPr>
              <a:t> study seasonal patterns, trends and relationships in agricultural data. </a:t>
            </a:r>
            <a:endParaRPr lang="en-IN" dirty="0"/>
          </a:p>
          <a:p>
            <a:r>
              <a:rPr lang="en-IN" dirty="0">
                <a:ea typeface="+mn-lt"/>
                <a:cs typeface="+mn-lt"/>
              </a:rPr>
              <a:t>Data Analysts and </a:t>
            </a:r>
            <a:r>
              <a:rPr lang="en-IN" dirty="0" err="1">
                <a:ea typeface="+mn-lt"/>
                <a:cs typeface="+mn-lt"/>
              </a:rPr>
              <a:t>StudentsTo</a:t>
            </a:r>
            <a:r>
              <a:rPr lang="en-IN" dirty="0">
                <a:ea typeface="+mn-lt"/>
                <a:cs typeface="+mn-lt"/>
              </a:rPr>
              <a:t> </a:t>
            </a:r>
            <a:r>
              <a:rPr lang="en-IN" dirty="0" err="1">
                <a:ea typeface="+mn-lt"/>
                <a:cs typeface="+mn-lt"/>
              </a:rPr>
              <a:t>analyze</a:t>
            </a:r>
            <a:r>
              <a:rPr lang="en-IN" dirty="0">
                <a:ea typeface="+mn-lt"/>
                <a:cs typeface="+mn-lt"/>
              </a:rPr>
              <a:t> agricultural datasets and identify meaningful insights.</a:t>
            </a:r>
            <a:endParaRPr lang="en-IN"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vert="horz" lIns="91440" tIns="45720" rIns="91440" bIns="45720" rtlCol="0" anchor="t">
            <a:normAutofit/>
          </a:bodyPr>
          <a:lstStyle/>
          <a:p>
            <a:pPr>
              <a:lnSpc>
                <a:spcPct val="100000"/>
              </a:lnSpc>
            </a:pPr>
            <a:r>
              <a:rPr lang="en-IN" b="1" dirty="0">
                <a:ea typeface="+mn-lt"/>
                <a:cs typeface="+mn-lt"/>
              </a:rPr>
              <a:t>Python</a:t>
            </a:r>
            <a:r>
              <a:rPr lang="en-IN" dirty="0">
                <a:ea typeface="+mn-lt"/>
                <a:cs typeface="+mn-lt"/>
              </a:rPr>
              <a:t> — Data analysis and processing </a:t>
            </a:r>
            <a:endParaRPr lang="en-IN" dirty="0"/>
          </a:p>
          <a:p>
            <a:pPr lvl="1"/>
            <a:r>
              <a:rPr lang="en-IN" b="1" dirty="0">
                <a:ea typeface="+mn-lt"/>
                <a:cs typeface="+mn-lt"/>
              </a:rPr>
              <a:t>Pandas</a:t>
            </a:r>
            <a:r>
              <a:rPr lang="en-IN" dirty="0">
                <a:ea typeface="+mn-lt"/>
                <a:cs typeface="+mn-lt"/>
              </a:rPr>
              <a:t> — Data cleaning and manipulation </a:t>
            </a:r>
            <a:endParaRPr lang="en-IN" dirty="0"/>
          </a:p>
          <a:p>
            <a:pPr lvl="1"/>
            <a:r>
              <a:rPr lang="en-IN" b="1" dirty="0">
                <a:ea typeface="+mn-lt"/>
                <a:cs typeface="+mn-lt"/>
              </a:rPr>
              <a:t>NumPy</a:t>
            </a:r>
            <a:r>
              <a:rPr lang="en-IN" dirty="0">
                <a:ea typeface="+mn-lt"/>
                <a:cs typeface="+mn-lt"/>
              </a:rPr>
              <a:t> — Numerical operations </a:t>
            </a:r>
            <a:endParaRPr lang="en-IN" dirty="0"/>
          </a:p>
          <a:p>
            <a:pPr lvl="1"/>
            <a:r>
              <a:rPr lang="en-IN" b="1" dirty="0">
                <a:ea typeface="+mn-lt"/>
                <a:cs typeface="+mn-lt"/>
              </a:rPr>
              <a:t>Matplotlib</a:t>
            </a:r>
            <a:r>
              <a:rPr lang="en-IN" dirty="0">
                <a:ea typeface="+mn-lt"/>
                <a:cs typeface="+mn-lt"/>
              </a:rPr>
              <a:t> — Data visualization </a:t>
            </a:r>
            <a:endParaRPr lang="en-IN" dirty="0"/>
          </a:p>
          <a:p>
            <a:pPr lvl="1"/>
            <a:r>
              <a:rPr lang="en-IN" b="1" dirty="0">
                <a:ea typeface="+mn-lt"/>
                <a:cs typeface="+mn-lt"/>
              </a:rPr>
              <a:t>Jupyter Notebook</a:t>
            </a:r>
            <a:r>
              <a:rPr lang="en-IN" dirty="0">
                <a:ea typeface="+mn-lt"/>
                <a:cs typeface="+mn-lt"/>
              </a:rPr>
              <a:t> — Analysis and documentation </a:t>
            </a:r>
            <a:endParaRPr lang="en-IN" dirty="0"/>
          </a:p>
          <a:p>
            <a:pPr lvl="1"/>
            <a:r>
              <a:rPr lang="en-IN" b="1" dirty="0">
                <a:ea typeface="+mn-lt"/>
                <a:cs typeface="+mn-lt"/>
              </a:rPr>
              <a:t>CSV Dataset</a:t>
            </a:r>
            <a:r>
              <a:rPr lang="en-IN" dirty="0">
                <a:ea typeface="+mn-lt"/>
                <a:cs typeface="+mn-lt"/>
              </a:rPr>
              <a:t> — Agricultural data source</a:t>
            </a:r>
            <a:endParaRPr lang="en-IN" dirty="0"/>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85238"/>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A3374BE-6337-5D79-CC5E-BCC386D38B49}"/>
              </a:ext>
            </a:extLst>
          </p:cNvPr>
          <p:cNvSpPr txBox="1"/>
          <p:nvPr/>
        </p:nvSpPr>
        <p:spPr>
          <a:xfrm>
            <a:off x="555358" y="1024119"/>
            <a:ext cx="6666469"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b="1" dirty="0"/>
              <a:t>RESULT 1 — DATASET OVERVIEW</a:t>
            </a:r>
            <a:endParaRPr lang="en-US" dirty="0"/>
          </a:p>
          <a:p>
            <a:pPr>
              <a:buFont typeface="Arial"/>
              <a:buChar char="•"/>
            </a:pPr>
            <a:r>
              <a:rPr lang="en-US" b="1" dirty="0">
                <a:ea typeface="+mn-lt"/>
                <a:cs typeface="+mn-lt"/>
              </a:rPr>
              <a:t>Dataset Before Cleaning</a:t>
            </a:r>
            <a:endParaRPr lang="en-US" dirty="0"/>
          </a:p>
          <a:p>
            <a:pPr>
              <a:buFont typeface="Arial"/>
              <a:buChar char="•"/>
            </a:pPr>
            <a:r>
              <a:rPr lang="en-US" dirty="0">
                <a:ea typeface="+mn-lt"/>
                <a:cs typeface="+mn-lt"/>
              </a:rPr>
              <a:t>Total Records: </a:t>
            </a:r>
            <a:r>
              <a:rPr lang="en-US" b="1" dirty="0">
                <a:ea typeface="+mn-lt"/>
                <a:cs typeface="+mn-lt"/>
              </a:rPr>
              <a:t>4,000</a:t>
            </a:r>
            <a:r>
              <a:rPr lang="en-US" dirty="0">
                <a:ea typeface="+mn-lt"/>
                <a:cs typeface="+mn-lt"/>
              </a:rPr>
              <a:t> </a:t>
            </a:r>
            <a:endParaRPr lang="en-US" dirty="0"/>
          </a:p>
          <a:p>
            <a:pPr>
              <a:buFont typeface="Arial"/>
              <a:buChar char="•"/>
            </a:pPr>
            <a:r>
              <a:rPr lang="en-US" dirty="0">
                <a:ea typeface="+mn-lt"/>
                <a:cs typeface="+mn-lt"/>
              </a:rPr>
              <a:t>Total Columns: </a:t>
            </a:r>
            <a:r>
              <a:rPr lang="en-US" b="1" dirty="0">
                <a:ea typeface="+mn-lt"/>
                <a:cs typeface="+mn-lt"/>
              </a:rPr>
              <a:t>28</a:t>
            </a:r>
            <a:r>
              <a:rPr lang="en-US" dirty="0">
                <a:ea typeface="+mn-lt"/>
                <a:cs typeface="+mn-lt"/>
              </a:rPr>
              <a:t> </a:t>
            </a:r>
            <a:endParaRPr lang="en-US" dirty="0"/>
          </a:p>
          <a:p>
            <a:pPr>
              <a:buFont typeface="Arial"/>
              <a:buChar char="•"/>
            </a:pPr>
            <a:r>
              <a:rPr lang="en-US" dirty="0">
                <a:ea typeface="+mn-lt"/>
                <a:cs typeface="+mn-lt"/>
              </a:rPr>
              <a:t>Duplicate Rows: </a:t>
            </a:r>
            <a:r>
              <a:rPr lang="en-US" b="1" dirty="0">
                <a:ea typeface="+mn-lt"/>
                <a:cs typeface="+mn-lt"/>
              </a:rPr>
              <a:t>0</a:t>
            </a:r>
            <a:r>
              <a:rPr lang="en-US" dirty="0">
                <a:ea typeface="+mn-lt"/>
                <a:cs typeface="+mn-lt"/>
              </a:rPr>
              <a:t> </a:t>
            </a:r>
            <a:endParaRPr lang="en-US" dirty="0"/>
          </a:p>
          <a:p>
            <a:pPr>
              <a:buFont typeface="Arial"/>
              <a:buChar char="•"/>
            </a:pPr>
            <a:r>
              <a:rPr lang="en-US" dirty="0">
                <a:ea typeface="+mn-lt"/>
                <a:cs typeface="+mn-lt"/>
              </a:rPr>
              <a:t>Missing Rainfall: </a:t>
            </a:r>
            <a:r>
              <a:rPr lang="en-US" b="1" dirty="0">
                <a:ea typeface="+mn-lt"/>
                <a:cs typeface="+mn-lt"/>
              </a:rPr>
              <a:t>48</a:t>
            </a:r>
            <a:r>
              <a:rPr lang="en-US" dirty="0">
                <a:ea typeface="+mn-lt"/>
                <a:cs typeface="+mn-lt"/>
              </a:rPr>
              <a:t> </a:t>
            </a:r>
            <a:endParaRPr lang="en-US" dirty="0"/>
          </a:p>
          <a:p>
            <a:pPr>
              <a:buFont typeface="Arial"/>
              <a:buChar char="•"/>
            </a:pPr>
            <a:r>
              <a:rPr lang="en-US" dirty="0">
                <a:ea typeface="+mn-lt"/>
                <a:cs typeface="+mn-lt"/>
              </a:rPr>
              <a:t>Missing Soil Moisture: </a:t>
            </a:r>
            <a:r>
              <a:rPr lang="en-US" b="1" dirty="0">
                <a:ea typeface="+mn-lt"/>
                <a:cs typeface="+mn-lt"/>
              </a:rPr>
              <a:t>40</a:t>
            </a:r>
            <a:r>
              <a:rPr lang="en-US" dirty="0">
                <a:ea typeface="+mn-lt"/>
                <a:cs typeface="+mn-lt"/>
              </a:rPr>
              <a:t> </a:t>
            </a:r>
            <a:endParaRPr lang="en-US" dirty="0"/>
          </a:p>
          <a:p>
            <a:pPr>
              <a:buFont typeface="Arial"/>
              <a:buChar char="•"/>
            </a:pPr>
            <a:r>
              <a:rPr lang="en-US" dirty="0">
                <a:ea typeface="+mn-lt"/>
                <a:cs typeface="+mn-lt"/>
              </a:rPr>
              <a:t>Missing Yield: </a:t>
            </a:r>
            <a:r>
              <a:rPr lang="en-US" b="1" dirty="0">
                <a:ea typeface="+mn-lt"/>
                <a:cs typeface="+mn-lt"/>
              </a:rPr>
              <a:t>32</a:t>
            </a:r>
            <a:r>
              <a:rPr lang="en-US" dirty="0">
                <a:ea typeface="+mn-lt"/>
                <a:cs typeface="+mn-lt"/>
              </a:rPr>
              <a:t> </a:t>
            </a:r>
            <a:endParaRPr lang="en-US" dirty="0"/>
          </a:p>
          <a:p>
            <a:pPr>
              <a:buFont typeface="Arial"/>
              <a:buChar char="•"/>
            </a:pPr>
            <a:r>
              <a:rPr lang="en-US" b="1" dirty="0">
                <a:ea typeface="+mn-lt"/>
                <a:cs typeface="+mn-lt"/>
              </a:rPr>
              <a:t>Data Cleaning Performed</a:t>
            </a:r>
            <a:endParaRPr lang="en-US" dirty="0"/>
          </a:p>
          <a:p>
            <a:pPr>
              <a:buFont typeface="Arial"/>
              <a:buChar char="•"/>
            </a:pPr>
            <a:r>
              <a:rPr lang="en-US" dirty="0">
                <a:ea typeface="+mn-lt"/>
                <a:cs typeface="+mn-lt"/>
              </a:rPr>
              <a:t>Missing Rainfall → filled using </a:t>
            </a:r>
            <a:r>
              <a:rPr lang="en-US" b="1" dirty="0">
                <a:ea typeface="+mn-lt"/>
                <a:cs typeface="+mn-lt"/>
              </a:rPr>
              <a:t>season-wise median</a:t>
            </a:r>
            <a:r>
              <a:rPr lang="en-US" dirty="0">
                <a:ea typeface="+mn-lt"/>
                <a:cs typeface="+mn-lt"/>
              </a:rPr>
              <a:t> </a:t>
            </a:r>
            <a:endParaRPr lang="en-US" dirty="0"/>
          </a:p>
          <a:p>
            <a:pPr>
              <a:buFont typeface="Arial"/>
              <a:buChar char="•"/>
            </a:pPr>
            <a:r>
              <a:rPr lang="en-US" dirty="0">
                <a:ea typeface="+mn-lt"/>
                <a:cs typeface="+mn-lt"/>
              </a:rPr>
              <a:t>Missing Soil Moisture → filled using </a:t>
            </a:r>
            <a:r>
              <a:rPr lang="en-US" b="1" dirty="0">
                <a:ea typeface="+mn-lt"/>
                <a:cs typeface="+mn-lt"/>
              </a:rPr>
              <a:t>season-wise median</a:t>
            </a:r>
            <a:r>
              <a:rPr lang="en-US" dirty="0">
                <a:ea typeface="+mn-lt"/>
                <a:cs typeface="+mn-lt"/>
              </a:rPr>
              <a:t> </a:t>
            </a:r>
            <a:endParaRPr lang="en-US" dirty="0"/>
          </a:p>
          <a:p>
            <a:pPr>
              <a:buFont typeface="Arial"/>
              <a:buChar char="•"/>
            </a:pPr>
            <a:r>
              <a:rPr lang="en-US" dirty="0">
                <a:ea typeface="+mn-lt"/>
                <a:cs typeface="+mn-lt"/>
              </a:rPr>
              <a:t>Missing Yield → </a:t>
            </a:r>
            <a:r>
              <a:rPr lang="en-US" b="1" dirty="0">
                <a:ea typeface="+mn-lt"/>
                <a:cs typeface="+mn-lt"/>
              </a:rPr>
              <a:t>32 rows removed</a:t>
            </a:r>
            <a:r>
              <a:rPr lang="en-US" dirty="0">
                <a:ea typeface="+mn-lt"/>
                <a:cs typeface="+mn-lt"/>
              </a:rPr>
              <a:t> </a:t>
            </a:r>
            <a:endParaRPr lang="en-US" dirty="0"/>
          </a:p>
          <a:p>
            <a:pPr>
              <a:buFont typeface="Arial"/>
              <a:buChar char="•"/>
            </a:pPr>
            <a:r>
              <a:rPr lang="en-US" dirty="0">
                <a:ea typeface="+mn-lt"/>
                <a:cs typeface="+mn-lt"/>
              </a:rPr>
              <a:t>Text values → standardized </a:t>
            </a:r>
            <a:endParaRPr lang="en-US" dirty="0"/>
          </a:p>
          <a:p>
            <a:pPr>
              <a:buFont typeface="Arial"/>
              <a:buChar char="•"/>
            </a:pPr>
            <a:r>
              <a:rPr lang="en-US" dirty="0">
                <a:ea typeface="+mn-lt"/>
                <a:cs typeface="+mn-lt"/>
              </a:rPr>
              <a:t>Duplicate check → no duplicates found </a:t>
            </a:r>
            <a:endParaRPr lang="en-US" dirty="0"/>
          </a:p>
          <a:p>
            <a:pPr>
              <a:buFont typeface="Arial"/>
              <a:buChar char="•"/>
            </a:pPr>
            <a:r>
              <a:rPr lang="en-US" b="1" dirty="0">
                <a:ea typeface="+mn-lt"/>
                <a:cs typeface="+mn-lt"/>
              </a:rPr>
              <a:t>Final Dataset</a:t>
            </a:r>
            <a:endParaRPr lang="en-US" dirty="0"/>
          </a:p>
          <a:p>
            <a:pPr>
              <a:buFont typeface="Arial"/>
              <a:buChar char="•"/>
            </a:pPr>
            <a:r>
              <a:rPr lang="en-US" b="1" dirty="0">
                <a:ea typeface="+mn-lt"/>
                <a:cs typeface="+mn-lt"/>
              </a:rPr>
              <a:t>3,968 records</a:t>
            </a:r>
            <a:r>
              <a:rPr lang="en-US" dirty="0">
                <a:ea typeface="+mn-lt"/>
                <a:cs typeface="+mn-lt"/>
              </a:rPr>
              <a:t> </a:t>
            </a:r>
            <a:endParaRPr lang="en-US" dirty="0"/>
          </a:p>
          <a:p>
            <a:pPr>
              <a:buFont typeface="Arial"/>
              <a:buChar char="•"/>
            </a:pPr>
            <a:r>
              <a:rPr lang="en-US" b="1" dirty="0">
                <a:ea typeface="+mn-lt"/>
                <a:cs typeface="+mn-lt"/>
              </a:rPr>
              <a:t>28 columns</a:t>
            </a:r>
            <a:r>
              <a:rPr lang="en-US" dirty="0">
                <a:ea typeface="+mn-lt"/>
                <a:cs typeface="+mn-lt"/>
              </a:rPr>
              <a:t> </a:t>
            </a:r>
            <a:endParaRPr lang="en-US" dirty="0"/>
          </a:p>
          <a:p>
            <a:pPr>
              <a:buFont typeface="Arial"/>
              <a:buChar char="•"/>
            </a:pPr>
            <a:r>
              <a:rPr lang="en-US" b="1" dirty="0">
                <a:ea typeface="+mn-lt"/>
                <a:cs typeface="+mn-lt"/>
              </a:rPr>
              <a:t>0 missing values</a:t>
            </a:r>
            <a:r>
              <a:rPr lang="en-US" dirty="0">
                <a:ea typeface="+mn-lt"/>
                <a:cs typeface="+mn-lt"/>
              </a:rPr>
              <a:t> </a:t>
            </a:r>
            <a:endParaRPr lang="en-US" dirty="0"/>
          </a:p>
          <a:p>
            <a:pPr>
              <a:buFont typeface="Arial"/>
              <a:buChar char="•"/>
            </a:pPr>
            <a:r>
              <a:rPr lang="en-US" b="1" dirty="0">
                <a:ea typeface="+mn-lt"/>
                <a:cs typeface="+mn-lt"/>
              </a:rPr>
              <a:t>0 duplicate rows</a:t>
            </a:r>
            <a:endParaRPr lang="en-US" dirty="0"/>
          </a:p>
          <a:p>
            <a:pPr marL="285750" indent="-285750">
              <a:buFont typeface="Arial"/>
              <a:buChar char="•"/>
            </a:pPr>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98AFF08B-FEA3-EA21-E91F-2BF5E0EE8B6C}"/>
              </a:ext>
            </a:extLst>
          </p:cNvPr>
          <p:cNvPicPr>
            <a:picLocks noChangeAspect="1"/>
          </p:cNvPicPr>
          <p:nvPr/>
        </p:nvPicPr>
        <p:blipFill>
          <a:blip r:embed="rId3"/>
          <a:stretch>
            <a:fillRect/>
          </a:stretch>
        </p:blipFill>
        <p:spPr>
          <a:xfrm>
            <a:off x="805398" y="1432519"/>
            <a:ext cx="7963007" cy="478317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5307DF84-768D-AF83-7972-2AEBD74D0F5E}"/>
              </a:ext>
            </a:extLst>
          </p:cNvPr>
          <p:cNvPicPr>
            <a:picLocks noChangeAspect="1"/>
          </p:cNvPicPr>
          <p:nvPr/>
        </p:nvPicPr>
        <p:blipFill>
          <a:blip r:embed="rId3"/>
          <a:stretch>
            <a:fillRect/>
          </a:stretch>
        </p:blipFill>
        <p:spPr>
          <a:xfrm>
            <a:off x="411891" y="1199463"/>
            <a:ext cx="10472353" cy="544761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a:extLst>
              <a:ext uri="{FF2B5EF4-FFF2-40B4-BE49-F238E27FC236}">
                <a16:creationId xmlns:a16="http://schemas.microsoft.com/office/drawing/2014/main" id="{E4B3FD81-DB13-E9F3-F482-52DA32BCC92A}"/>
              </a:ext>
            </a:extLst>
          </p:cNvPr>
          <p:cNvPicPr>
            <a:picLocks noChangeAspect="1"/>
          </p:cNvPicPr>
          <p:nvPr/>
        </p:nvPicPr>
        <p:blipFill>
          <a:blip r:embed="rId3"/>
          <a:stretch>
            <a:fillRect/>
          </a:stretch>
        </p:blipFill>
        <p:spPr>
          <a:xfrm>
            <a:off x="329929" y="1019432"/>
            <a:ext cx="8988710" cy="564292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Graphic 1">
            <a:extLst>
              <a:ext uri="{FF2B5EF4-FFF2-40B4-BE49-F238E27FC236}">
                <a16:creationId xmlns:a16="http://schemas.microsoft.com/office/drawing/2014/main" id="{8168EF4F-EA53-7640-5944-5139472676C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pic>
        <p:nvPicPr>
          <p:cNvPr id="3" name="Picture 2">
            <a:extLst>
              <a:ext uri="{FF2B5EF4-FFF2-40B4-BE49-F238E27FC236}">
                <a16:creationId xmlns:a16="http://schemas.microsoft.com/office/drawing/2014/main" id="{9F6AEC0A-154F-179C-AD09-3525309FAD6B}"/>
              </a:ext>
            </a:extLst>
          </p:cNvPr>
          <p:cNvPicPr>
            <a:picLocks noChangeAspect="1"/>
          </p:cNvPicPr>
          <p:nvPr/>
        </p:nvPicPr>
        <p:blipFill>
          <a:blip r:embed="rId4"/>
          <a:stretch>
            <a:fillRect/>
          </a:stretch>
        </p:blipFill>
        <p:spPr>
          <a:xfrm>
            <a:off x="16041" y="1019432"/>
            <a:ext cx="12087838" cy="575619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3E36D16-6D36-0191-C5CA-94505B6EF73C}"/>
              </a:ext>
            </a:extLst>
          </p:cNvPr>
          <p:cNvSpPr txBox="1"/>
          <p:nvPr/>
        </p:nvSpPr>
        <p:spPr>
          <a:xfrm>
            <a:off x="584048" y="1940666"/>
            <a:ext cx="789184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Advanced Predictive Analysis</a:t>
            </a:r>
            <a:br>
              <a:rPr lang="en-US" b="1" dirty="0">
                <a:ea typeface="+mn-lt"/>
                <a:cs typeface="+mn-lt"/>
              </a:rPr>
            </a:br>
            <a:r>
              <a:rPr lang="en-US" b="1" dirty="0">
                <a:ea typeface="+mn-lt"/>
                <a:cs typeface="+mn-lt"/>
              </a:rPr>
              <a:t> Develop models to predict crop yield and agricultural performance. </a:t>
            </a:r>
            <a:endParaRPr lang="en-US" dirty="0"/>
          </a:p>
          <a:p>
            <a:pPr marL="285750" indent="-285750">
              <a:buFont typeface="Arial"/>
              <a:buChar char="•"/>
            </a:pPr>
            <a:r>
              <a:rPr lang="en-US" b="1" dirty="0">
                <a:ea typeface="+mn-lt"/>
                <a:cs typeface="+mn-lt"/>
              </a:rPr>
              <a:t>Real-Time Agricultural Data</a:t>
            </a:r>
            <a:br>
              <a:rPr lang="en-US" b="1" dirty="0">
                <a:ea typeface="+mn-lt"/>
                <a:cs typeface="+mn-lt"/>
              </a:rPr>
            </a:br>
            <a:r>
              <a:rPr lang="en-US" b="1" dirty="0">
                <a:ea typeface="+mn-lt"/>
                <a:cs typeface="+mn-lt"/>
              </a:rPr>
              <a:t> Integrate live weather, rainfall and environmental data. </a:t>
            </a:r>
            <a:endParaRPr lang="en-US" dirty="0"/>
          </a:p>
          <a:p>
            <a:pPr marL="285750" indent="-285750">
              <a:buFont typeface="Arial"/>
              <a:buChar char="•"/>
            </a:pPr>
            <a:r>
              <a:rPr lang="en-US" b="1" dirty="0">
                <a:ea typeface="+mn-lt"/>
                <a:cs typeface="+mn-lt"/>
              </a:rPr>
              <a:t>Regional-Level Analysis</a:t>
            </a:r>
            <a:br>
              <a:rPr lang="en-US" b="1" dirty="0">
                <a:ea typeface="+mn-lt"/>
                <a:cs typeface="+mn-lt"/>
              </a:rPr>
            </a:br>
            <a:r>
              <a:rPr lang="en-US" b="1" dirty="0">
                <a:ea typeface="+mn-lt"/>
                <a:cs typeface="+mn-lt"/>
              </a:rPr>
              <a:t> Expand analysis to more states, districts and agricultural regions. </a:t>
            </a:r>
            <a:endParaRPr lang="en-US" dirty="0"/>
          </a:p>
          <a:p>
            <a:pPr marL="285750" indent="-285750">
              <a:buFont typeface="Arial"/>
              <a:buChar char="•"/>
            </a:pPr>
            <a:r>
              <a:rPr lang="en-US" b="1" dirty="0">
                <a:ea typeface="+mn-lt"/>
                <a:cs typeface="+mn-lt"/>
              </a:rPr>
              <a:t>Crop Recommendation</a:t>
            </a:r>
            <a:br>
              <a:rPr lang="en-US" b="1" dirty="0">
                <a:ea typeface="+mn-lt"/>
                <a:cs typeface="+mn-lt"/>
              </a:rPr>
            </a:br>
            <a:r>
              <a:rPr lang="en-US" b="1" dirty="0">
                <a:ea typeface="+mn-lt"/>
                <a:cs typeface="+mn-lt"/>
              </a:rPr>
              <a:t> Develop a system to support suitable crop selection based on seasonal conditions. </a:t>
            </a:r>
            <a:endParaRPr lang="en-US" dirty="0"/>
          </a:p>
          <a:p>
            <a:pPr marL="285750" indent="-285750">
              <a:buFont typeface="Arial"/>
              <a:buChar char="•"/>
            </a:pPr>
            <a:r>
              <a:rPr lang="en-US" b="1" dirty="0">
                <a:ea typeface="+mn-lt"/>
                <a:cs typeface="+mn-lt"/>
              </a:rPr>
              <a:t>Resource Optimization</a:t>
            </a:r>
            <a:br>
              <a:rPr lang="en-US" b="1" dirty="0">
                <a:ea typeface="+mn-lt"/>
                <a:cs typeface="+mn-lt"/>
              </a:rPr>
            </a:br>
            <a:r>
              <a:rPr lang="en-US" b="1" dirty="0">
                <a:ea typeface="+mn-lt"/>
                <a:cs typeface="+mn-lt"/>
              </a:rPr>
              <a:t> Analyze water, fertilizer and pesticide usage to support efficient resource planning. </a:t>
            </a:r>
            <a:endParaRPr lang="en-US" dirty="0"/>
          </a:p>
          <a:p>
            <a:pPr marL="285750" indent="-285750">
              <a:buFont typeface="Arial"/>
              <a:buChar char="•"/>
            </a:pPr>
            <a:r>
              <a:rPr lang="en-US" b="1" dirty="0">
                <a:ea typeface="+mn-lt"/>
                <a:cs typeface="+mn-lt"/>
              </a:rPr>
              <a:t>Interactive Dashboard</a:t>
            </a:r>
            <a:br>
              <a:rPr lang="en-US" b="1" dirty="0">
                <a:ea typeface="+mn-lt"/>
                <a:cs typeface="+mn-lt"/>
              </a:rPr>
            </a:br>
            <a:r>
              <a:rPr lang="en-US" b="1" dirty="0">
                <a:ea typeface="+mn-lt"/>
                <a:cs typeface="+mn-lt"/>
              </a:rPr>
              <a:t> Develop an interactive dashboard for farmers and agricultural stakeholders.</a:t>
            </a:r>
            <a:endParaRPr lang="en-US" dirty="0"/>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lIns="91440" tIns="45720" rIns="91440" bIns="45720" anchor="t">
            <a:spAutoFit/>
          </a:bodyPr>
          <a:lstStyle/>
          <a:p>
            <a:r>
              <a:rPr lang="en-US" dirty="0">
                <a:ea typeface="+mn-lt"/>
                <a:cs typeface="+mn-lt"/>
              </a:rPr>
              <a:t>https://github.com/Jatin-Tanwani/Seasonal_Agriculture_DA_Project.git</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E8521F31-5153-A218-5327-C175BE8C916D}"/>
              </a:ext>
            </a:extLst>
          </p:cNvPr>
          <p:cNvPicPr>
            <a:picLocks noChangeAspect="1"/>
          </p:cNvPicPr>
          <p:nvPr/>
        </p:nvPicPr>
        <p:blipFill>
          <a:blip r:embed="rId3"/>
          <a:stretch>
            <a:fillRect/>
          </a:stretch>
        </p:blipFill>
        <p:spPr>
          <a:xfrm>
            <a:off x="1141148" y="1283917"/>
            <a:ext cx="7863787" cy="539663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430576"/>
            <a:ext cx="8667781" cy="3215758"/>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vt:lpstr>
      <vt:lpstr>PROBLEM  STATEMENT</vt:lpstr>
      <vt:lpstr>Project Description [ Seasonal Agriculture Performance Analysis is a data analytics project that analyzes agricultural activities across different seasons, geographical areas and farming conditions. The project uses agricultural data related to farming practices, environmental conditions, resource usage, crop production and economic performance. The data is cleaned and prepared using Python and Pandas, followed by exploratory analysis and visualization to identify seasonal patterns, trends, relationships and differences in agricultural performance. The analysis helps understand how factors such as environmental conditions, resource usage, crop production and economic outcomes vary across seasons.]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195</cp:revision>
  <dcterms:created xsi:type="dcterms:W3CDTF">2021-07-11T13:13:15Z</dcterms:created>
  <dcterms:modified xsi:type="dcterms:W3CDTF">2026-09-26T09:16:24Z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